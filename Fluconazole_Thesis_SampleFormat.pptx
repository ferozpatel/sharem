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37160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Formulation and Optimization of Ethosomes and Liposomes of Fluconazole for Transdermal Delivery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332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Thesis / Dissertation Submitted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Oriental University, Indore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the award of the Degree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/ Doctor of Philosophy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of Pharmacy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48463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...........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of Pharmacy</a:t>
            </a:r>
            <a:endParaRPr lang="en-US" sz="1800" dirty="0"/>
          </a:p>
        </p:txBody>
      </p:sp>
      <p:pic>
        <p:nvPicPr>
          <p:cNvPr id="5" name="Image 0" descr="sample_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4754880"/>
            <a:ext cx="123444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4846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Gulfisha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Enrollment No: ...............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0" y="6172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ORIENTAL UNIVERSITY, INDORE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Formulation, development and evaluation of ethosomes of fluconazole for transdermal delivery, with liposomes prepared as a comparator vesicular system.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perform preformulation studies of fluconazole.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formulate, characterize and optimize ethosomes of fluconazole using Design of Experiments (DoE).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prepare and evaluate fluconazole liposomes as a comparator.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compare drug release and stability of ethosomes and liposomes.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perform antifungal activity of the optimized formulation.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673352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Fluconazole, a triazole antifungal, was formulated into ethosomal and liposomal gels to enhance transdermal delivery for topical antifungal therapy.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Vesicular systems were prepared and optimized using a Taguchi screening design followed by response surface methodology (RSM), studying the effect of key variables on vesicle size and entrapment efficiency.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Optimized batches were incorporated into Carbopol gels and evaluated for drug content, pH, spreadability, viscosity, in-vitro drug release, morphology (TEM), stability and antifungal activity against Aspergillus niger and Candida albicans.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Ethosomal gels showed higher entrapment, enhanced and sustained drug release, and superior antifungal activity compared with liposomal and marketed formulations.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Paper for Defending Title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Akhtar N. et al. (2012) — Cavamax W7 composite clotrimazole ethosomes developed using a 3² factorial design.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Optimized composite formulation (F9): entrapment efficiency 98.42%, zeta potential −83.6 mV, vesicle size 202.8 nm.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Cumulative in-vitro permeation reached 88.53% in 8 hours with higher antifungal efficacy against Aspergillus niger and Candida albicans.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Establishes composite/optimized ethosomes as advanced antifungal vesicular systems — basis for applying DoE-optimized ethosomes to fluconazole.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990088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2286000"/>
                <a:gridCol w="1554480"/>
                <a:gridCol w="31089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Sr. No.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Author/Authors, Year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 / Focus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 / Publisher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Findings &amp; Relevance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Gap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Zhao et al., 2014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FLZ liposomal gel (film dispersion)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article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Oval/round vesicles, EE ~47.68%; superior drug retention in rat skin (depot effect) despite lower cumulative permeation.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Limited RSM optimization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Majumdar et al., 2014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FLZ liposomes in hydrogel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article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2² factorial + RSM studying hydration volume and phospholipid:cholesterol ratio on EE and release.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ethosome comparison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Habib et al., 2008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Ophthalmic FLZ liposomes (reverse-phase evaporation)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article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Negatively charged liposomes gave fastest corneal healing in Candida keratitis rabbit model vs. neutral/positive and FLZ solution.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Ocular, not topical skin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990088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2286000"/>
                <a:gridCol w="1554480"/>
                <a:gridCol w="31089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Sr. No.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Author/Authors, Year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 / Focus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 / Publisher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Findings &amp; Relevance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Gap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Ola et al., 2010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Multilamellar FLZ liposomes (thin-film hydration)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article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α-tocopherol acetate greatly increased EE; membrane composition strongly affects physicochemical performance and stability.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gel / antifungal test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Bhalariya et al., 2009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FLZ ethosomes vs. liposomes (clinical)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Clinical study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Ethosomes (hot method) vs. liposomes (film hydration); ethosomal formulations showed greater clinical efficacy in candidiasis.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FLZ + RSM gel lacking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Akhtar et al., 2012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Clotrimazole composite ethosomes (3² factorial)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article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F9: EE 98.42%, zeta −83.6 mV, size 202.8 nm; 88.53% permeation in 8 h; active vs. A. niger &amp; C. albicans.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Different drug (clotrimazole)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990088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2286000"/>
                <a:gridCol w="1554480"/>
                <a:gridCol w="31089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Sr. No.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Author/Authors, Year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 / Focus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 / Publisher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Findings &amp; Relevance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Gap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Sarat et al., 2011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Ketoconazole ethosomes (modified hot process)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article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Ethosomal cream delivered drug across membrane far more effectively than conventional non-ethosomal cream.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Different drug (ketoconazole)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Touitou et al., 2000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Ethosomes - novel vesicular carriers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J. Control. Release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Introduced ethosomes; high ethanol content enables deep skin penetration and enhanced transdermal delivery.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General, not FLZ-specific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258568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response surface methodology (RSM)-based optimization for fluconazole vesicular systems.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direct quantitative comparison of ethosomal and liposomal fluconazole under identical experimental conditions.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 gel-based ethosomal topical systems with dedicated antifungal efficacy testing for fluconazole.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for systematic in-vitro permeation and stability comparison of the two carriers.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METHODOLOGY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Vesicular systems (ethosomes &amp; liposomes) of fluconazole prepared and optimized using Design of Experiments.</a:t>
            </a:r>
            <a:endParaRPr lang="en-US" sz="16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Screening of influential variables using Taguchi design.</a:t>
            </a:r>
            <a:endParaRPr lang="en-US" sz="16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Optimization of vesicle size and entrapment efficiency via response surface methodology and intensive grid search.</a:t>
            </a:r>
            <a:endParaRPr lang="en-US" sz="16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Optimized vesicles incorporated into Carbopol gels.</a:t>
            </a:r>
            <a:endParaRPr lang="en-US" sz="16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Gels evaluated for physicochemical properties, in-vitro release, stability and antifungal activity.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4014216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OF WORK / FLOWCHART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Exhaustive literature search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Preformulation study of fluconazole (organoleptic, calibration curve, solubility, partition coefficient, LOD, pH, melting point, flow properties)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Drug-excipient compatibility (FTIR &amp; DSC)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Preparation of ethosomes &amp; liposomes using DoE factorial design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Characterization: particle size &amp; entrapment efficiency; variable screening + grid search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Preparation &amp; characterization of fluconazole gel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In-vitro skin permeation, stability study and antifungal activity vs. marketed gel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404872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Fluconazole (API), lecithin / soya phosphatidylcholine, cholesterol, ethanol, Carbopol, buffers.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Preparation of ethosomes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Phospholipid + drug dissolved in ethanol; aqueous phase added under stirring (cold/hot method).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Preparation of liposomes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Lipid film hydration using lecithin and cholesterol; hydrated and size-reduced.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Taguchi screening design used to identify critical variables for both systems.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404872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Preformulation studies of fluconazole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Organoleptic properties and physical appearance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 curve (UV) in ethanol and phosphate buffer pH 7.4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FTIR and DSC for identity and melting point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pH, flow properties (angle of repose, Carr’s index, Hausner ratio)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Solubility, partition coefficient, loss on drying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Drug-excipient compatibility by FTIR &amp; DSC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404872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of vesicles and gels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Vesicles: entrapment efficiency, vesicle/particle size, morphology (TEM)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Gels: drug content, pH, spreadability, viscosity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In-vitro drug release via Franz diffusion cell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 kinetics: zero-order, first-order, Korsmeyer-Peppas models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Stability: effect of storage temperature on vesicle size and drug content</a:t>
            </a:r>
            <a:endParaRPr lang="en-US" sz="1500" dirty="0"/>
          </a:p>
          <a:p>
            <a:pPr lvl="1" marL="558800" indent="-279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Antifungal activity vs. Aspergillus niger and Candida albicans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3282696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&amp; DISCUSSION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Fluconazole identity confirmed (FTIR, DSC); linear UV calibration; no significant drug-excipient incompatibility.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Taguchi screening + RSM identified critical variables; grid search located optimum ethosome and liposome compositions.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achieved higher entrapment efficiency than liposomes.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Ethosomal gels showed enhanced, sustained in-vitro release (Korsmeyer-Peppas / diffusion-controlled).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 confirmed spherical vesicles; refrigerated storage preserved size and drug content best.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Ethosomal gel showed superior antifungal activity vs. liposomal and marketed gels.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Fluconazole ethosomes and liposomes were successfully formulated and optimized using DoE.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provided higher entrapment and enhanced, sustained drug release.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Ethosomal gel demonstrated superior skin permeation and antifungal activity.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are a promising carrier for transdermal antifungal delivery of fluconazole.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2258568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 vivo and in vivo studies in animal models to confirm efficacy and safety.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Scale-up and long-term ICH stability studies of the optimized formulation.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combination antifungal therapy and other poorly permeable drugs.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Investigate clinical translation of ethosomal topical systems.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Zhao et al., 2014. Fluconazole liposomal gel for topical antifungal delivery.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Majumdar et al., 2014. Optimization of fluconazole liposomal hydrogel.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Habib et al., 2008. Ophthalmic fluconazole liposomes.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Ola et al., 2010. Multilamellar fluconazole liposomes.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Bhalariya et al., 2009. Fluconazole ethosomes vs. liposomes (clinical).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Akhtar et al., 2012. Clotrimazole composite ethosomes.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Touitou et al., 2000. Ethosomes - novel vesicular carriers, J. Control. Release.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OF PUBLICATIONS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1. ...........................................................................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2. ...........................................................................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3. ...........................................................................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Ethosomes &amp; Liposomes of Fluconazole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Thesis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Ethosomes and Liposomes of Fluconazole</dc:title>
  <dc:subject>PptxGenJS Presentation</dc:subject>
  <dc:creator>Gulfisha</dc:creator>
  <cp:lastModifiedBy>Gulfisha</cp:lastModifiedBy>
  <cp:revision>1</cp:revision>
  <dcterms:created xsi:type="dcterms:W3CDTF">2026-09-14T17:21:25Z</dcterms:created>
  <dcterms:modified xsi:type="dcterms:W3CDTF">2026-09-14T17:21:25Z</dcterms:modified>
</cp:coreProperties>
</file>