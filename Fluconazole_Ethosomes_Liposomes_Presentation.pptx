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2F5F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537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Ethosomes &amp; Liposomes of Fluconazole  |  Transdermal Delivery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2E5E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12188952" cy="73152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AND OPTIMIZATION OF ETHOSOMES AND LIPOSOMES OF FLUCONAZOLE FOR TRANSDERMAL DELIVERY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4206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of Experiments (DoE) based approach to develop and compare fluconazole-loaded ethosomal and liposomal gels for antifungal therapy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5394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Gulfisha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Pharmacy  •  Dissertation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Transdermal Drug Delivery (TDD)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Vesicular carriers: Liposomes &amp; Ethosomes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Experiments (DoE) in formulation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 &amp; Research Gap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of Work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Methods &amp; Drug Profile (Fluconazole)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Perspectives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Transdermal Drug Delivery (TDD)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administration across the skin into systemic circulation, using the skin as an accessible interface.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surface area ~2 m2 and receives nearly one-third of circulating blood volume.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stratum corneum is the principal barrier — a "brick-and-mortar" structure of corneocytes in a lipid matrix.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penetration routes: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Transepidermal — across the continuous stratum corneum (main route)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Transfollicular — via hair follicles and sebaceous glands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Transcanalicular — via sweat ducts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— Advantages &amp; Limitations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hepatic first-pass metabolism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plasma peaks -&gt; fewer side effects; steady drug levels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short half-life drugs; easy to terminate on toxicity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dosing frequency -&gt; better patient compliance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molecules (&gt;500 Da) poorly cross the stratum corneum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partition coefficients hinder permeation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High-melting, poorly soluble drugs are challenging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to Optimize TDD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penetration enhancers (sulfoxides, azones, glycols, terpenes)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methods: iontophoresis, electroporation, sonophoresis, magnetophoresis, microneedles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Vesicular &amp; particulate systems: liposomes, niosomes, transfersomes, ethosomes, SLNs, microemulsions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Stratum corneum modification (hydration) and follicular targeting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Drug/prodrug selection, ion-pairing, and eutectic systems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SYSTEMS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Liposomes &amp; Ethosomes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Liposomes — Vesicular Drug Delivery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vesicles (30 nm to several um) of one or more phospholipid bilayers enclosing an aqueous core.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 biocompatible phospholipids (e.g., lecithin/phosphatidylcholine) and cholesterol.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carry both hydrophilic (aqueous core) and lipophilic (bilayer) drugs.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Bilayer rigidity/fluidity and charge depend on lipid composition.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Biocompatible, biodegradable, non-toxic and non-immunogenic.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Liposomes — Classification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size &amp; lamellarity</a:t>
            </a:r>
            <a:endParaRPr lang="en-US" sz="16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MLV (multilamellar, 100-1000 nm); SUV (&lt;0.1 um); LUV (0.1-1 um)</a:t>
            </a:r>
            <a:endParaRPr lang="en-US" sz="16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Oligolamellar and Giant vesicles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composition / function</a:t>
            </a:r>
            <a:endParaRPr lang="en-US" sz="16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Conventional, pH-sensitive, cationic liposomes</a:t>
            </a:r>
            <a:endParaRPr lang="en-US" sz="16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Long-circulating liposomes (LCL) and immuno-liposomes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Liposomes — Advantages &amp; Disadvantages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Disadvantages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A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 efficacy and therapeutic index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aqueous solubility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drug stability via encapsulation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circulation half-life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Non-toxic, flexible, biodegradable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Phospholipid oxidation / hydrolysis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toxicity of encapsulated 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and fusion of encapsulated drug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Site-avoidance &amp; site-specific targeting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production cost, lower stability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Liposomes — Preparation 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dispersion: lipid film hydration, sonication, French pressure, membrane extrusion, freeze-thaw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 injection: ether injection and ethanol injection methods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Reverse-phase evaporation (double emulsion vesicles)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Detergent removal (dialysis) and microfluidization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Pro-liposomes and lyophilization for stability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Liposomes — Characterization &amp;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Characterization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vesicle size, zeta potential, lamellarity, morphology (TEM)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Chemical: phospholipid &amp; cholesterol assay, oxidation; Biological: sterility, pyrogenicity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solubility of lipophilic/amphiphilic drugs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Infections, parasitic diseases, anticancer therapy, immunology &amp; vaccines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and commercially approved lipid-based products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Ethosomes — Novel Vesicular Carriers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malleable vesicles with a high ethanol content (typically 20-45%).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phospholipid, ethanol and water.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fluidizes both the vesicle bilayer and stratum corneum lipids.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deeper skin penetration and enhanced transdermal/systemic delivery vs. conventional liposomes.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cold method, hot method, or classic/injection techniques.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Ethosomes — Mechanism &amp;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mechanism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effect disorders SC lipids; soft vesicles permeate and release payload in deep skin layers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Transdermal hormone &amp; anti-Parkinson delivery; transcellular delivery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Anti-arthritic, antibiotic, antihypertensive/cardiac drug delivery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transdermal delivery and antifungal therapy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Experiments (DoE)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approach to study the effect of multiple variables simultaneously and optimize formulations.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designs (e.g., Taguchi) identify influential (critical) variables efficiently.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Surface Methodology (RSM) models relationships and locates the optimum.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number of experiments, cost and development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software: Design-Expert, Minitab, JMP, Statistica.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Formulation, development and evaluation of ethosomes of fluconazole (with liposomes as comparator).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preformulation studies of fluconazole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Formulate, characterize and optimize fluconazole ethosomes using DoE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evaluate fluconazole liposomes as a comparator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drug release and stability of ethosomes vs. liposomes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antifungal activity of the optimized formulation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Highlights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et al. (2014): FLZ liposomal gel by film dispersion; EE ~47.7%; superior skin drug retention (depot effect).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Majumdar et al. (2014): FLZ liposomes in hydrogel; 2^2 factorial + RSM optimization framework.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 et al. (2008): Ophthalmic FLZ liposomes; negatively charged vesicles gave fastest corneal healing.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Bhalariya et al. (2009): FLZ ethosomes vs. liposomes clinically — ethosomes showed greater efficacy in candidiasis.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Akhtar et al. (2012): Clotrimazole composite ethosomes; EE 98.4%, 88.5% permeation in 8 h; active vs. A. niger &amp; C. albicans.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RSM-based optimization studies for fluconazole vesicular systems.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direct quantitative comparison of ethosomal vs. liposomal FLZ under identical conditions.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gel-based ethosomal topical systems with dedicated antifungal efficacy testing for fluconazole.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systematic ex vivo / in-vitro permeation and stability comparison.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of Work</a:t>
            </a: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of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literature search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Preformulation study of fluconazole (organoleptic, calibration curve, solubility, partition coefficient, LOD, pH, melting point, flow properties)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Drug-excipient compatibility (FTIR &amp; DSC)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vesicular systems (ethosomes &amp; liposomes) using DoE factorial design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vesicles: particle size &amp; entrapment efficiency; screen variables + intensive grid search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&amp; characterize fluconazole gel (yield, drug content, pH, spreadability, viscosity)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In-vitro skin permeation, stability study, and antifungal activity vs. marketed gel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Methods</a:t>
            </a:r>
            <a:endParaRPr lang="en-US" sz="3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Instruments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materials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Fluconazole (API), lecithin / soya phosphatidylcholine, cholesterol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Ethanol, Carbopol (gelling agent), buffers and reagents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instruments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UV-visible spectrophotometer, FTIR, DSC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size analyzer / zeta sizer, TEM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Franz diffusion cell, Brookfield viscometer, centrifuge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Profile — Fluconazole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triazole antifungal agent.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inhibits fungal cytochrome P450 14-alpha-demethylase, blocking ergosterol synthesis and disrupting the fungal cell membrane.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against Candida spp., Cryptococcus, and dermatophytes.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for candidiasis and other fungal infections.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topical/transdermal antifungal delivery.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Preformulation Studies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Organoleptic properties and physical appearance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curve of fluconazole (ethanol / phosphate buffer pH 7.4) by UV spectroscopy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FTIR spectra and melting point (DSC) confirmation of identity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flow properties (angle of repose, Carr’s index, Hausner ratio)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Solubility, partition coefficient and loss on drying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Drug-excipient compatibility by FTIR &amp; DSC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&amp; Optimization — DoE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(Taguchi design)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influential variables for both ethosomes and liposomes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Ethosome variables incl. phospholipid, ethanol, drug; Liposome variables incl. lecithin &amp; cholesterol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surface modelling of vesicle size &amp; entrapment efficiency</a:t>
            </a:r>
            <a:endParaRPr lang="en-US" sz="1500" dirty="0"/>
          </a:p>
          <a:p>
            <a:pPr lvl="1" marL="508000" indent="-2540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grid search to locate optimum; validation of predictions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Vesicles: entrapment efficiency, vesicle/particle size, morphology (TEM)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Gels: drug content, pH, spreadability, viscosity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In-vitro drug release via Franz diffusion cell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kinetics: zero-order, first-order, Korsmeyer-Peppas models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effect of storage temperature on vesicle size &amp; drug content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Antifungal activity vs. Aspergillus niger and Candida albicans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3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Preformulation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Fluconazole confirmed by organoleptic properties, FTIR and DSC (melting point).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calibration curve in phosphate buffer pH 7.4 with wavelength maxima established.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properties, solubility and partition coefficient determined.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FTIR &amp; DSC confirmed no significant drug-excipient incompatibility.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Ethosome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Taguchi screening identified the critical variables affecting responses.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Design-Expert generated model coefficients for vesicle size and entrapment efficiency.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surface plots described variable interactions.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grid search located the optimum ethosome composition.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responses validated against experimental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Liposome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Taguchi screening applied to liposomal formulations as comparator.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Lecithin and cholesterol strongly influenced entrapment efficiency (RSM).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surface plots and grid search used to optimize vesicle size &amp; EE.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liposome batch selected for gel formulation and comparison.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In-vitro Drug Release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Franz diffusion cell studies compared ethosomal (EF), liposomal (LF) and marketed gels.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Ethosomal gels showed enhanced and sustained cumulative drug release vs. liposomal and marketed product.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best described by the Korsmeyer-Peppas / diffusion-controlled model.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batches (e.g., EF3 / LF3) selected for further evaluation.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TEM &amp; Stability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confirmed spherical, well-defined ethosomal and liposomal vesicles.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assessed at different storage temperatures over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Vesicle size and % drug content monitored for optimized gels.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Refrigerated storage generally preserved vesicle size and drug content better.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Antifungal Activity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Antifungal activity tested against Aspergillus niger and Candida albicans.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of inhibition compared across ethosomal, liposomal and marketed gels.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Ethosomal gel demonstrated superior antifungal activity, consistent with enhanced skin permeation.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Perspectives</a:t>
            </a:r>
            <a:endParaRPr lang="en-US" sz="3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Fluconazole-loaded ethosomes and liposomes were successfully formulated and optimized using DoE.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Ethosomes achieved higher entrapment efficiency and enhanced, sustained in-vitro drug release.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Ethosomal gel showed superior skin permeation and antifungal activity vs. liposomal and marketed gels.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with RSM enabled efficient optimization with a minimum number of experiments.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Ethosomes are a promising carrier for transdermal antifungal delivery of fluconazole.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Perspectives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vivo and in vivo studies in animal models to confirm efficacy and safety.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and long-term ICH stability studies of the optimized formulation.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combination antifungal therapy and other poorly permeable drugs.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clinical translation of ethosomal topical systems.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64008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Thesis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Formulation and Optimization of Ethosomes and Liposomes of Fluconazole</dc:title>
  <dc:subject>PptxGenJS Presentation</dc:subject>
  <dc:creator>Gulfisha</dc:creator>
  <cp:lastModifiedBy>Gulfisha</cp:lastModifiedBy>
  <cp:revision>1</cp:revision>
  <dcterms:created xsi:type="dcterms:W3CDTF">2026-09-14T17:08:49Z</dcterms:created>
  <dcterms:modified xsi:type="dcterms:W3CDTF">2026-09-14T17:08:49Z</dcterms:modified>
</cp:coreProperties>
</file>